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164024288b4b84" /><Relationship Type="http://schemas.openxmlformats.org/officeDocument/2006/relationships/extended-properties" Target="/docProps/app.xml" Id="R8f03b7902ad746c6" /><Relationship Type="http://schemas.openxmlformats.org/officeDocument/2006/relationships/officeDocument" Target="/ppt/presentation.xml" Id="Rc02723a65b1149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bf9881e2c14358"/>
  </p:sldMasterIdLst>
  <p:notesMasterIdLst>
    <p:notesMasterId xmlns:r="http://schemas.openxmlformats.org/officeDocument/2006/relationships" r:id="Rd26444007e784e1f"/>
  </p:notesMasterIdLst>
  <p:sldIdLst>
    <p:sldId xmlns:r="http://schemas.openxmlformats.org/officeDocument/2006/relationships" id="256" r:id="R21a0208200264249"/>
    <p:sldId xmlns:r="http://schemas.openxmlformats.org/officeDocument/2006/relationships" id="257" r:id="R4d3ff7ca45834a34"/>
    <p:sldId xmlns:r="http://schemas.openxmlformats.org/officeDocument/2006/relationships" id="258" r:id="R963fd1ecefca4c83"/>
    <p:sldId xmlns:r="http://schemas.openxmlformats.org/officeDocument/2006/relationships" id="259" r:id="Rc8c366f4cd6846a9"/>
    <p:sldId xmlns:r="http://schemas.openxmlformats.org/officeDocument/2006/relationships" id="260" r:id="Rbb955c7762e646e0"/>
    <p:sldId xmlns:r="http://schemas.openxmlformats.org/officeDocument/2006/relationships" id="261" r:id="Rce738d38d26b4f82"/>
    <p:sldId xmlns:r="http://schemas.openxmlformats.org/officeDocument/2006/relationships" id="262" r:id="R7a934da248a34b18"/>
    <p:sldId xmlns:r="http://schemas.openxmlformats.org/officeDocument/2006/relationships" id="263" r:id="Ra80f2a5278c340d4"/>
    <p:sldId xmlns:r="http://schemas.openxmlformats.org/officeDocument/2006/relationships" id="264" r:id="Ra2dede46d1f440c5"/>
    <p:sldId xmlns:r="http://schemas.openxmlformats.org/officeDocument/2006/relationships" id="265" r:id="R1da964157ec248fa"/>
    <p:sldId xmlns:r="http://schemas.openxmlformats.org/officeDocument/2006/relationships" id="266" r:id="Rfe00f5df9a0b4a89"/>
    <p:sldId xmlns:r="http://schemas.openxmlformats.org/officeDocument/2006/relationships" id="267" r:id="R69d393ea43dd47c2"/>
    <p:sldId xmlns:r="http://schemas.openxmlformats.org/officeDocument/2006/relationships" id="268" r:id="R43d256272c7e4b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ab9616febb4a00" /><Relationship Type="http://schemas.openxmlformats.org/officeDocument/2006/relationships/slideMaster" Target="/ppt/slideMasters/slideMaster1.xml" Id="Raabf9881e2c14358" /><Relationship Type="http://schemas.openxmlformats.org/officeDocument/2006/relationships/notesMaster" Target="/ppt/notesMasters/notesMaster1.xml" Id="Rd26444007e784e1f" /><Relationship Type="http://schemas.openxmlformats.org/officeDocument/2006/relationships/presProps" Target="/ppt/presProps.xml" Id="Rd47dd97969c349a9" /><Relationship Type="http://schemas.openxmlformats.org/officeDocument/2006/relationships/tableStyles" Target="/ppt/tableStyles.xml" Id="R8b5ec7d0ee2d4a94" /><Relationship Type="http://schemas.openxmlformats.org/officeDocument/2006/relationships/slide" Target="/ppt/slides/slide1.xml" Id="R21a0208200264249" /><Relationship Type="http://schemas.openxmlformats.org/officeDocument/2006/relationships/slide" Target="/ppt/slides/slide2.xml" Id="R4d3ff7ca45834a34" /><Relationship Type="http://schemas.openxmlformats.org/officeDocument/2006/relationships/slide" Target="/ppt/slides/slide3.xml" Id="R963fd1ecefca4c83" /><Relationship Type="http://schemas.openxmlformats.org/officeDocument/2006/relationships/slide" Target="/ppt/slides/slide4.xml" Id="Rc8c366f4cd6846a9" /><Relationship Type="http://schemas.openxmlformats.org/officeDocument/2006/relationships/slide" Target="/ppt/slides/slide5.xml" Id="Rbb955c7762e646e0" /><Relationship Type="http://schemas.openxmlformats.org/officeDocument/2006/relationships/slide" Target="/ppt/slides/slide6.xml" Id="Rce738d38d26b4f82" /><Relationship Type="http://schemas.openxmlformats.org/officeDocument/2006/relationships/slide" Target="/ppt/slides/slide7.xml" Id="R7a934da248a34b18" /><Relationship Type="http://schemas.openxmlformats.org/officeDocument/2006/relationships/slide" Target="/ppt/slides/slide8.xml" Id="Ra80f2a5278c340d4" /><Relationship Type="http://schemas.openxmlformats.org/officeDocument/2006/relationships/slide" Target="/ppt/slides/slide9.xml" Id="Ra2dede46d1f440c5" /><Relationship Type="http://schemas.openxmlformats.org/officeDocument/2006/relationships/slide" Target="/ppt/slides/slide10.xml" Id="R1da964157ec248fa" /><Relationship Type="http://schemas.openxmlformats.org/officeDocument/2006/relationships/slide" Target="/ppt/slides/slide11.xml" Id="Rfe00f5df9a0b4a89" /><Relationship Type="http://schemas.openxmlformats.org/officeDocument/2006/relationships/slide" Target="/ppt/slides/slide12.xml" Id="R69d393ea43dd47c2" /><Relationship Type="http://schemas.openxmlformats.org/officeDocument/2006/relationships/slide" Target="/ppt/slides/slide13.xml" Id="R43d256272c7e4b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eeb337ddea42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175f7a28c7417f" /><Relationship Type="http://schemas.openxmlformats.org/officeDocument/2006/relationships/notesMaster" Target="/ppt/notesMasters/notesMaster1.xml" Id="R5b0d32ca12d14f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7c188cc0324b86" /><Relationship Type="http://schemas.openxmlformats.org/officeDocument/2006/relationships/notesMaster" Target="/ppt/notesMasters/notesMaster1.xml" Id="Ra496eae3735f43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a5fae2a9b0472b" /><Relationship Type="http://schemas.openxmlformats.org/officeDocument/2006/relationships/notesMaster" Target="/ppt/notesMasters/notesMaster1.xml" Id="R290ad91e92a64b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c9eaef11f04e4f" /><Relationship Type="http://schemas.openxmlformats.org/officeDocument/2006/relationships/notesMaster" Target="/ppt/notesMasters/notesMaster1.xml" Id="Rbb69558ea7754a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af40e99b4340a5" /><Relationship Type="http://schemas.openxmlformats.org/officeDocument/2006/relationships/notesMaster" Target="/ppt/notesMasters/notesMaster1.xml" Id="Rea480ced917140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0a1705e96d41c5" /><Relationship Type="http://schemas.openxmlformats.org/officeDocument/2006/relationships/notesMaster" Target="/ppt/notesMasters/notesMaster1.xml" Id="R02960229895d46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c98bf3e72046a7" /><Relationship Type="http://schemas.openxmlformats.org/officeDocument/2006/relationships/notesMaster" Target="/ppt/notesMasters/notesMaster1.xml" Id="R7306f5060bcb40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448b9b759a4800" /><Relationship Type="http://schemas.openxmlformats.org/officeDocument/2006/relationships/notesMaster" Target="/ppt/notesMasters/notesMaster1.xml" Id="Refbb313724d442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06ef1ae1824930" /><Relationship Type="http://schemas.openxmlformats.org/officeDocument/2006/relationships/notesMaster" Target="/ppt/notesMasters/notesMaster1.xml" Id="R3ebaa611c88640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09fffce99a4901" /><Relationship Type="http://schemas.openxmlformats.org/officeDocument/2006/relationships/notesMaster" Target="/ppt/notesMasters/notesMaster1.xml" Id="Ra7c7ced4462e4c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c2cecfd07d4a01" /><Relationship Type="http://schemas.openxmlformats.org/officeDocument/2006/relationships/notesMaster" Target="/ppt/notesMasters/notesMaster1.xml" Id="R7f859c4d84cc40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098add203040c5" /><Relationship Type="http://schemas.openxmlformats.org/officeDocument/2006/relationships/notesMaster" Target="/ppt/notesMasters/notesMaster1.xml" Id="R86dc725cea4b42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e06a493499485f" /><Relationship Type="http://schemas.openxmlformats.org/officeDocument/2006/relationships/notesMaster" Target="/ppt/notesMasters/notesMaster1.xml" Id="R6f1140fb735340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Тема и данные студента сохранены из исходной презентации.</a:t>
            </a:r>
          </a:p>
          <a:p xmlns:a="http://schemas.openxmlformats.org/drawingml/2006/main">
            <a:r>
              <a:t>Фото: Tashkent skyline 2019.jpg — Guidecity, CC BY-SA 4.0. https://commons.wikimedia.org/wiki/File:Tashkent_skyline_2019.jpg Лицензия: https://creativecommons.org/licenses/by-sa/4.0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История города и 2200-летие: https://whc.unesco.org/en/tentativelists/5500/</a:t>
            </a:r>
          </a:p>
          <a:p xmlns:a="http://schemas.openxmlformats.org/drawingml/2006/main">
            <a:r>
              <a:t>Фото: Hazrati Imam Mosque 01.jpg — Bgag, CC0. https://commons.wikimedia.org/wiki/File:Hazrati_Imam_Mosque_01.jpg Лицензия: http://creativecommons.org/publicdomain/zero/1.0/deed.en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Открытие первой линии в 1977 году: https://www.dkm.gov.uz/uz/toskent-metropoliteni</a:t>
            </a:r>
          </a:p>
          <a:p xmlns:a="http://schemas.openxmlformats.org/drawingml/2006/main">
            <a:r>
              <a:t>Фото: Beruni station of Tashkent Metro on Uzbekistan Line in Tashkent Uzbekistan.jpg — Tim Adams, CC BY 4.0. https://commons.wikimedia.org/wiki/File:Beruni_station_of_Tashkent_Metro_on_Uzbekistan_Line_in_Tashkent_Uzbekistan.jpg Лицензия: https://creativecommons.org/licenses/by/4.0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Фото: Hazrati Imam Mosque 04.jpg — Bgag, CC0. https://commons.wikimedia.org/wiki/File:Hazrati_Imam_Mosque_04.jpg Лицензия: http://creativecommons.org/publicdomain/zero/1.0/deed.en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Фото: Chorsu Bazaar in Tashkent.jpg — Adam Harangozó, CC BY-SA 4.0. https://commons.wikimedia.org/wiki/File:Chorsu_Bazaar_in_Tashkent.jpg Лицензия: https://creativecommons.org/licenses/by-sa/4.0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Фото: Tashkent City Park at night 2019.jpg — Tashkent City Park, CC BY-SA 4.0. https://commons.wikimedia.org/wiki/File:Tashkent_City_Park_at_night_2019.jpg Лицензия: https://creativecommons.org/licenses/by-sa/4.0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Высота 375 м: https://uztv-tower.uz/en</a:t>
            </a:r>
          </a:p>
          <a:p xmlns:a="http://schemas.openxmlformats.org/drawingml/2006/main">
            <a:r>
              <a:t>Фото: Toshkent teleminorasi kechki payt manzarasi.jpg — Boymatova Ugiloy, CC BY 4.0. https://commons.wikimedia.org/wiki/File:Toshkent_teleminorasi_kechki_payt_manzarasi.jpg Лицензия: https://creativecommons.org/licenses/by/4.0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Фото: Amir Temur Square.jpg — Adam Harangozó, CC BY-SA 4.0. https://commons.wikimedia.org/wiki/File:Amir_Temur_Square.jpg Лицензия: https://creativecommons.org/licenses/by-sa/4.0</a:t>
            </a:r>
          </a:p>
          <a:p xmlns:a="http://schemas.openxmlformats.org/drawingml/2006/main">
            <a:r>
              <a:t>Фото: Чарвак,Узбекистан.jpg — Галиев Ярослав, CC BY-SA 4.0. https://commons.wikimedia.org/wiki/File:%D0%A7%D0%B0%D1%80%D0%B2%D0%B0%D0%BA,%D0%A3%D0%B7%D0%B1%D0%B5%D0%BA%D0%B8%D1%81%D1%82%D0%B0%D0%BD.jpg Лицензия: https://creativecommons.org/licenses/by-sa/4.0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Фото: Novruz decorations, Tashkent 2025.jpg — Ayqironlik, CC BY-SA 4.0. https://commons.wikimedia.org/wiki/File:Novruz_decorations,_Tashkent_2025.jpg Лицензия: https://creativecommons.org/licenses/by-sa/4.0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Фото: Traditional Uzbek courtyard.jpg — Panpanchik, CC BY-SA 4.0. https://commons.wikimedia.org/wiki/File:Traditional_Uzbek_courtyard.jpg Лицензия: https://creativecommons.org/licenses/by-sa/4.0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Фото: Plov Tashkent.jpg — Ekrem Canli, CC BY-SA 3.0. https://commons.wikimedia.org/wiki/File:Plov_Tashkent.jpg Лицензия: https://creativecommons.org/licenses/by-sa/3.0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Личный вывод сохранён в форме первого лица; фактических утверждений в этом слайде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Фото: Tashkent City at Night.jpg — Drksll, CC BY-SA 4.0. https://commons.wikimedia.org/wiki/File:Tashkent_City_at_Night.jpg Лицензия: https://creativecommons.org/licenses/by-sa/4.0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78c0836ee84c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04ab2256d6452a" /><Relationship Type="http://schemas.openxmlformats.org/officeDocument/2006/relationships/slideLayout" Target="/ppt/slideLayouts/slideLayout1.xml" Id="R45e10130002f43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e10130002f43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c800d759e40d7" /><Relationship Type="http://schemas.openxmlformats.org/officeDocument/2006/relationships/image" Target="/ppt/media/image.jpeg" Id="Rd15e3ed802d5445f" /><Relationship Type="http://schemas.openxmlformats.org/officeDocument/2006/relationships/notesSlide" Target="/ppt/notesSlides/notesSlide1.xml" Id="R5a11f24ee30a42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a843b373548ae" /><Relationship Type="http://schemas.openxmlformats.org/officeDocument/2006/relationships/image" Target="/ppt/media/image2.jpeg" Id="Rd78999c96a0945d0" /><Relationship Type="http://schemas.openxmlformats.org/officeDocument/2006/relationships/notesSlide" Target="/ppt/notesSlides/notesSlide2.xml" Id="R13e8df6834cb47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0a6be140b4f45" /><Relationship Type="http://schemas.openxmlformats.org/officeDocument/2006/relationships/image" Target="/ppt/media/image3.jpeg" Id="R4a424be5cd9d4a23" /><Relationship Type="http://schemas.openxmlformats.org/officeDocument/2006/relationships/notesSlide" Target="/ppt/notesSlides/notesSlide3.xml" Id="R08f7dee2941244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048efd8c840c7" /><Relationship Type="http://schemas.openxmlformats.org/officeDocument/2006/relationships/image" Target="/ppt/media/image4.jpeg" Id="Rb5e4a54e5c4e418a" /><Relationship Type="http://schemas.openxmlformats.org/officeDocument/2006/relationships/notesSlide" Target="/ppt/notesSlides/notesSlide4.xml" Id="R2e6b89396d6f45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c4e0f7a1c4be2" /><Relationship Type="http://schemas.openxmlformats.org/officeDocument/2006/relationships/image" Target="/ppt/media/image5.jpeg" Id="R95d658ce93be45a5" /><Relationship Type="http://schemas.openxmlformats.org/officeDocument/2006/relationships/notesSlide" Target="/ppt/notesSlides/notesSlide5.xml" Id="Refb3775cfbab45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064f9b3b5405c" /><Relationship Type="http://schemas.openxmlformats.org/officeDocument/2006/relationships/image" Target="/ppt/media/image6.jpeg" Id="R987d6f6615484493" /><Relationship Type="http://schemas.openxmlformats.org/officeDocument/2006/relationships/notesSlide" Target="/ppt/notesSlides/notesSlide6.xml" Id="R64bce1b4f6ba47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3696dabcc49b0" /><Relationship Type="http://schemas.openxmlformats.org/officeDocument/2006/relationships/image" Target="/ppt/media/image7.jpeg" Id="R943f07dba0dc4290" /><Relationship Type="http://schemas.openxmlformats.org/officeDocument/2006/relationships/notesSlide" Target="/ppt/notesSlides/notesSlide7.xml" Id="R9eb5e34d715e47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8956fd554457c" /><Relationship Type="http://schemas.openxmlformats.org/officeDocument/2006/relationships/image" Target="/ppt/media/image8.jpeg" Id="Rfe3b5cf5b69b47b5" /><Relationship Type="http://schemas.openxmlformats.org/officeDocument/2006/relationships/image" Target="/ppt/media/image9.jpeg" Id="R01dd6eaa646e4a85" /><Relationship Type="http://schemas.openxmlformats.org/officeDocument/2006/relationships/notesSlide" Target="/ppt/notesSlides/notesSlide8.xml" Id="R52b9194ee2eb4a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541d93dd749e3" /><Relationship Type="http://schemas.openxmlformats.org/officeDocument/2006/relationships/image" Target="/ppt/media/image10.jpeg" Id="Rbfa6183af05947cb" /><Relationship Type="http://schemas.openxmlformats.org/officeDocument/2006/relationships/notesSlide" Target="/ppt/notesSlides/notesSlide9.xml" Id="R1209bb2e182343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0c0b496f64eb6" /><Relationship Type="http://schemas.openxmlformats.org/officeDocument/2006/relationships/image" Target="/ppt/media/image11.jpeg" Id="Rc5b70e835cd344d8" /><Relationship Type="http://schemas.openxmlformats.org/officeDocument/2006/relationships/notesSlide" Target="/ppt/notesSlides/notesSlide10.xml" Id="R4fdb33d1f87440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167d4a4934c8d" /><Relationship Type="http://schemas.openxmlformats.org/officeDocument/2006/relationships/image" Target="/ppt/media/image12.jpeg" Id="R29adeb4eb5ab4beb" /><Relationship Type="http://schemas.openxmlformats.org/officeDocument/2006/relationships/notesSlide" Target="/ppt/notesSlides/notesSlide11.xml" Id="Rca8e74bd2fca4a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211997dc543db" /><Relationship Type="http://schemas.openxmlformats.org/officeDocument/2006/relationships/notesSlide" Target="/ppt/notesSlides/notesSlide12.xml" Id="R5362c8b7a16c49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38a0e0b6e4ae7" /><Relationship Type="http://schemas.openxmlformats.org/officeDocument/2006/relationships/image" Target="/ppt/media/image13.jpeg" Id="Rd5e7a15619c34b54" /><Relationship Type="http://schemas.openxmlformats.org/officeDocument/2006/relationships/notesSlide" Target="/ppt/notesSlides/notesSlide13.xml" Id="Rb832ac8aa82349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e3ed802d5445f"/>
          <a:srcRect xmlns:a="http://schemas.openxmlformats.org/drawingml/2006/main" l="12749" t="0" r="127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3900" y="0"/>
            <a:ext cx="76581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E67CA-D6C0-4380-9F0B-492750F1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86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A072F-155D-4983-AE91-B4C3ABB5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E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2EE93-7D50-429A-93A0-97C608C4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E6D1A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E6D1AF"/>
                </a:solidFill>
                <a:latin typeface="Calibri"/>
                <a:ea typeface="Calibri"/>
                <a:cs typeface="Calibri"/>
              </a:rPr>
              <a:t>МОЯ РОДИНА — УЗБЕКИСТАН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14B20-DFD4-4A18-BBEE-9BF2514F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D1A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BE376-341A-4D27-9133-596F5611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395287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72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72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Мой родной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72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72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город —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72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72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Ташкент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6F46D-9758-421C-BA77-59713F63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Тошназаров Темурбек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1C3EF-7105-4FC5-8ACA-3966B6D6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0225"/>
            <a:ext cx="3667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D7E1D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D7E1DE"/>
                </a:solidFill>
                <a:latin typeface="Calibri"/>
                <a:ea typeface="Calibri"/>
                <a:cs typeface="Calibri"/>
              </a:rPr>
              <a:t>Факультет информационных технологий · 210-группа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0D852-FBFF-4930-A289-72F5FE8E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293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 i="0">
                <a:solidFill>
                  <a:srgbClr val="CBD7D5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CBD7D5"/>
                </a:solidFill>
                <a:latin typeface="Calibri"/>
                <a:ea typeface="Calibri"/>
                <a:cs typeface="Calibri"/>
              </a:rPr>
              <a:t>Фото: Guidecity / Wikimedia Commons / CC BY-SA 4.0</a:t>
            </a:r>
          </a:p>
        </p:txBody>
      </p:sp>
    </p:spTree>
    <p:extLst>
      <p:ext uri="{BB962C8B-B14F-4D97-AF65-F5344CB8AC3E}">
        <p14:creationId xmlns:p14="http://schemas.microsoft.com/office/powerpoint/2010/main" val="10061261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999c96a0945d0"/>
          <a:srcRect xmlns:a="http://schemas.openxmlformats.org/drawingml/2006/main" l="23346" t="0" r="233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2725" y="0"/>
            <a:ext cx="562927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2B23E-2E09-4A09-801F-76F7F280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147E89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147E89"/>
                </a:solidFill>
                <a:latin typeface="Calibri"/>
                <a:ea typeface="Calibri"/>
                <a:cs typeface="Calibri"/>
              </a:rPr>
              <a:t>02  /  ИСТОРИЯ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D1B87-C44C-4577-A75B-EB2DA7F8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5476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75" b="1" i="0">
                <a:solidFill>
                  <a:srgbClr val="22343B"/>
                </a:solidFill>
                <a:latin typeface="Georgia"/>
                <a:ea typeface="Georgia"/>
                <a:cs typeface="Georgia"/>
              </a:defRPr>
            </a:pPr>
            <a:r>
              <a:rPr sz="3675" b="1" i="0">
                <a:solidFill>
                  <a:srgbClr val="22343B"/>
                </a:solidFill>
                <a:latin typeface="Georgia"/>
                <a:ea typeface="Georgia"/>
                <a:cs typeface="Georgia"/>
              </a:rPr>
              <a:t>Город с историей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73E70-542A-4B14-ACB5-E484CE52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847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7E8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F780D-2E81-4386-96F9-170A0FCF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0" i="0">
                <a:solidFill>
                  <a:srgbClr val="147E89"/>
                </a:solidFill>
                <a:latin typeface="Georgia"/>
                <a:ea typeface="Georgia"/>
                <a:cs typeface="Georgia"/>
              </a:defRPr>
            </a:pPr>
            <a:r>
              <a:rPr sz="3225" b="0" i="0">
                <a:solidFill>
                  <a:srgbClr val="147E89"/>
                </a:solidFill>
                <a:latin typeface="Georgia"/>
                <a:ea typeface="Georgia"/>
                <a:cs typeface="Georgia"/>
              </a:rPr>
              <a:t>Более 2200 лет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604A3-6AD3-4209-A9BD-E3BFC0BF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52775"/>
            <a:ext cx="50958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 i="0">
                <a:solidFill>
                  <a:srgbClr val="22343B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22343B"/>
                </a:solidFill>
                <a:latin typeface="Calibri"/>
                <a:ea typeface="Calibri"/>
                <a:cs typeface="Calibri"/>
              </a:rPr>
              <a:t>Ташкент известен с древности. В разные эпохи его называли Чач, Шаш и Бинкат.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8FB6C-EDF6-43D6-BB07-992D963F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62450"/>
            <a:ext cx="5095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 i="0">
                <a:solidFill>
                  <a:srgbClr val="22343B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22343B"/>
                </a:solidFill>
                <a:latin typeface="Calibri"/>
                <a:ea typeface="Calibri"/>
                <a:cs typeface="Calibri"/>
              </a:rPr>
              <a:t>Город рос на перекрёстке торговых путей и со временем стал столицей Узбекистана.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ECE88-0487-4E6B-98D4-85FFEF2E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4198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 i="0">
                <a:solidFill>
                  <a:srgbClr val="5A6A6E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5A6A6E"/>
                </a:solidFill>
                <a:latin typeface="Calibri"/>
                <a:ea typeface="Calibri"/>
                <a:cs typeface="Calibri"/>
              </a:rPr>
              <a:t>Фото: Bgag / Wikimedia Commons / CC0</a:t>
            </a:r>
          </a:p>
        </p:txBody>
      </p:sp>
    </p:spTree>
    <p:extLst>
      <p:ext uri="{BB962C8B-B14F-4D97-AF65-F5344CB8AC3E}">
        <p14:creationId xmlns:p14="http://schemas.microsoft.com/office/powerpoint/2010/main" val="3391547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364E6-BA36-4882-B5C4-F81E1B1A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147E89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147E89"/>
                </a:solidFill>
                <a:latin typeface="Calibri"/>
                <a:ea typeface="Calibri"/>
                <a:cs typeface="Calibri"/>
              </a:rPr>
              <a:t>03  /  ГОРОДСКИЕ ФАКТЫ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024A1-A8B6-4D76-B2E5-4FFC7414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450" b="1" i="0">
                <a:solidFill>
                  <a:srgbClr val="22343B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22343B"/>
                </a:solidFill>
                <a:latin typeface="Georgia"/>
                <a:ea typeface="Georgia"/>
                <a:cs typeface="Georgia"/>
              </a:rPr>
              <a:t>Метро, которое хочется рассматривать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24be5cd9d4a23"/>
          <a:srcRect xmlns:a="http://schemas.openxmlformats.org/drawingml/2006/main" l="0" t="10251" r="0" b="102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876425"/>
            <a:ext cx="7515225" cy="3981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6AEE8-3CFA-487A-B53B-2A61CA63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76425"/>
            <a:ext cx="3209925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520A2-1798-4BE1-8068-AE7F7B0E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43125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575" b="0" i="0">
                <a:solidFill>
                  <a:srgbClr val="E6D1AF"/>
                </a:solidFill>
                <a:latin typeface="Georgia"/>
                <a:ea typeface="Georgia"/>
                <a:cs typeface="Georgia"/>
              </a:defRPr>
            </a:pPr>
            <a:r>
              <a:rPr sz="4575" b="0" i="0">
                <a:solidFill>
                  <a:srgbClr val="E6D1AF"/>
                </a:solidFill>
                <a:latin typeface="Georgia"/>
                <a:ea typeface="Georgia"/>
                <a:cs typeface="Georgia"/>
              </a:rPr>
              <a:t>1977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C1251-D3BB-47EF-A974-332FEB18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76550"/>
            <a:ext cx="25812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год открытия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первой линии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F2A61-4064-4E93-B21C-A871D4D0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914775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D1A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37FF5-7103-42BF-8984-C4DC6831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10050"/>
            <a:ext cx="256222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E3E9E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E3E9E7"/>
                </a:solidFill>
                <a:latin typeface="Calibri"/>
                <a:ea typeface="Calibri"/>
                <a:cs typeface="Calibri"/>
              </a:rPr>
              <a:t>Сегодня метро — и транспорт, и знакомство с архитектурой города.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3AE2E-46AB-430D-ABC5-6667A820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 i="0">
                <a:solidFill>
                  <a:srgbClr val="5A6A6E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5A6A6E"/>
                </a:solidFill>
                <a:latin typeface="Calibri"/>
                <a:ea typeface="Calibri"/>
                <a:cs typeface="Calibri"/>
              </a:rPr>
              <a:t>Фото: Tim Adams / Wikimedia Commons / CC BY 4.0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5D6E0-19C9-48E8-AC89-C76ED9F8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531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125" b="0" i="0">
                <a:solidFill>
                  <a:srgbClr val="5A6A6E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5A6A6E"/>
                </a:solidFill>
                <a:latin typeface="Calibri"/>
                <a:ea typeface="Calibri"/>
                <a:cs typeface="Calibri"/>
              </a:rPr>
              <a:t>03 / 13</a:t>
            </a:r>
          </a:p>
        </p:txBody>
      </p:sp>
    </p:spTree>
    <p:extLst>
      <p:ext uri="{BB962C8B-B14F-4D97-AF65-F5344CB8AC3E}">
        <p14:creationId xmlns:p14="http://schemas.microsoft.com/office/powerpoint/2010/main" val="6969208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4a54e5c4e418a"/>
          <a:srcRect xmlns:a="http://schemas.openxmlformats.org/drawingml/2006/main" l="17084" t="0" r="170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8961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1732E-362E-48C5-9F00-B5E49E3B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3F54A-0609-460D-8A14-13AAEE9C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95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147E89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147E89"/>
                </a:solidFill>
                <a:latin typeface="Calibri"/>
                <a:ea typeface="Calibri"/>
                <a:cs typeface="Calibri"/>
              </a:rPr>
              <a:t>04  /  НАСЛЕДИЕ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0842E-D301-469C-AA33-095E27DD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390650"/>
            <a:ext cx="4305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650" b="1" i="0">
                <a:solidFill>
                  <a:srgbClr val="22343B"/>
                </a:solidFill>
                <a:latin typeface="Georgia"/>
                <a:ea typeface="Georgia"/>
                <a:cs typeface="Georgia"/>
              </a:defRPr>
            </a:pPr>
            <a:r>
              <a:rPr sz="4650" b="1" i="0">
                <a:solidFill>
                  <a:srgbClr val="22343B"/>
                </a:solidFill>
                <a:latin typeface="Georgia"/>
                <a:ea typeface="Georgia"/>
                <a:cs typeface="Georgia"/>
              </a:rPr>
              <a:t>Хазрати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650" b="1" i="0">
                <a:solidFill>
                  <a:srgbClr val="22343B"/>
                </a:solidFill>
                <a:latin typeface="Georgia"/>
                <a:ea typeface="Georgia"/>
                <a:cs typeface="Georgia"/>
              </a:defRPr>
            </a:pPr>
            <a:r>
              <a:rPr sz="4650" b="1" i="0">
                <a:solidFill>
                  <a:srgbClr val="22343B"/>
                </a:solidFill>
                <a:latin typeface="Georgia"/>
                <a:ea typeface="Georgia"/>
                <a:cs typeface="Georgia"/>
              </a:rPr>
              <a:t>Имам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30F1C-FC8F-4B96-BC85-3BD87FFC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4325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7E8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EC874-3075-47DA-A0FD-03E764AE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33775"/>
            <a:ext cx="41719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0" i="0">
                <a:solidFill>
                  <a:srgbClr val="22343B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22343B"/>
                </a:solidFill>
                <a:latin typeface="Calibri"/>
                <a:ea typeface="Calibri"/>
                <a:cs typeface="Calibri"/>
              </a:rPr>
              <a:t>Комплекс напоминает о духовной истории Ташкента. Здесь особенно заметны традиционные орнаменты, арки и бирюзовые оттенки.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CB929-B89C-4C4E-B2E2-16755A74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41032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 i="0">
                <a:solidFill>
                  <a:srgbClr val="5A6A6E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5A6A6E"/>
                </a:solidFill>
                <a:latin typeface="Calibri"/>
                <a:ea typeface="Calibri"/>
                <a:cs typeface="Calibri"/>
              </a:rPr>
              <a:t>Фото: Bgag / Wikimedia Commons / CC0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93B3A-EF58-4D4B-90EB-DB1CC512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531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125" b="0" i="0">
                <a:solidFill>
                  <a:srgbClr val="5A6A6E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5A6A6E"/>
                </a:solidFill>
                <a:latin typeface="Calibri"/>
                <a:ea typeface="Calibri"/>
                <a:cs typeface="Calibri"/>
              </a:rPr>
              <a:t>04 / 13</a:t>
            </a:r>
          </a:p>
        </p:txBody>
      </p:sp>
    </p:spTree>
    <p:extLst>
      <p:ext uri="{BB962C8B-B14F-4D97-AF65-F5344CB8AC3E}">
        <p14:creationId xmlns:p14="http://schemas.microsoft.com/office/powerpoint/2010/main" val="1902326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d658ce93be45a5"/>
          <a:srcRect xmlns:a="http://schemas.openxmlformats.org/drawingml/2006/main" l="18485" t="0" r="184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05475" y="0"/>
            <a:ext cx="64865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34CDE-29E1-4045-A997-42ED556B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147E89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147E89"/>
                </a:solidFill>
                <a:latin typeface="Calibri"/>
                <a:ea typeface="Calibri"/>
                <a:cs typeface="Calibri"/>
              </a:rPr>
              <a:t>05  /  ТРАДИЦИИ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AD266-E4BD-4201-BDD5-E4198281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819650" cy="2447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  <a:defRPr sz="4425" b="1" i="0">
                <a:solidFill>
                  <a:srgbClr val="22343B"/>
                </a:solidFill>
                <a:latin typeface="Georgia"/>
                <a:ea typeface="Georgia"/>
                <a:cs typeface="Georgia"/>
              </a:defRPr>
            </a:pPr>
            <a:r>
              <a:rPr sz="4425" b="1" i="0">
                <a:solidFill>
                  <a:srgbClr val="22343B"/>
                </a:solidFill>
                <a:latin typeface="Georgia"/>
                <a:ea typeface="Georgia"/>
                <a:cs typeface="Georgia"/>
              </a:rPr>
              <a:t>Чорсу —</a:t>
            </a:r>
          </a:p>
          <a:p xmlns:a="http://schemas.openxmlformats.org/drawingml/2006/main">
            <a:pPr algn="l">
              <a:lnSpc>
                <a:spcPct val="99000"/>
              </a:lnSpc>
              <a:buNone/>
              <a:defRPr sz="4425" b="1" i="0">
                <a:solidFill>
                  <a:srgbClr val="22343B"/>
                </a:solidFill>
                <a:latin typeface="Georgia"/>
                <a:ea typeface="Georgia"/>
                <a:cs typeface="Georgia"/>
              </a:defRPr>
            </a:pPr>
            <a:r>
              <a:rPr sz="4425" b="1" i="0">
                <a:solidFill>
                  <a:srgbClr val="22343B"/>
                </a:solidFill>
                <a:latin typeface="Georgia"/>
                <a:ea typeface="Georgia"/>
                <a:cs typeface="Georgia"/>
              </a:rPr>
              <a:t>живой ритм</a:t>
            </a:r>
          </a:p>
          <a:p xmlns:a="http://schemas.openxmlformats.org/drawingml/2006/main">
            <a:pPr algn="l">
              <a:lnSpc>
                <a:spcPct val="99000"/>
              </a:lnSpc>
              <a:buNone/>
              <a:defRPr sz="4425" b="1" i="0">
                <a:solidFill>
                  <a:srgbClr val="22343B"/>
                </a:solidFill>
                <a:latin typeface="Georgia"/>
                <a:ea typeface="Georgia"/>
                <a:cs typeface="Georgia"/>
              </a:defRPr>
            </a:pPr>
            <a:r>
              <a:rPr sz="4425" b="1" i="0">
                <a:solidFill>
                  <a:srgbClr val="22343B"/>
                </a:solidFill>
                <a:latin typeface="Georgia"/>
                <a:ea typeface="Georgia"/>
                <a:cs typeface="Georgia"/>
              </a:rPr>
              <a:t>города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7E49F-E74C-4BEE-A488-3EBD4FBC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9243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7E8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E4DE4-409D-4CD8-9D9E-94DCC7F4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76725"/>
            <a:ext cx="4552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00" b="0" i="0">
                <a:solidFill>
                  <a:srgbClr val="22343B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22343B"/>
                </a:solidFill>
                <a:latin typeface="Calibri"/>
                <a:ea typeface="Calibri"/>
                <a:cs typeface="Calibri"/>
              </a:rPr>
              <a:t>На базаре легко почувствовать Ташкент: здесь встречаются запахи специй, голоса торговцев и привычка неспешно разговаривать.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73750-ACC7-4209-93C8-A98BC754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 i="0">
                <a:solidFill>
                  <a:srgbClr val="5A6A6E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5A6A6E"/>
                </a:solidFill>
                <a:latin typeface="Calibri"/>
                <a:ea typeface="Calibri"/>
                <a:cs typeface="Calibri"/>
              </a:rPr>
              <a:t>Фото: Adam Harangozó / Wikimedia Commons / CC BY-SA 4.0</a:t>
            </a:r>
          </a:p>
        </p:txBody>
      </p:sp>
    </p:spTree>
    <p:extLst>
      <p:ext uri="{BB962C8B-B14F-4D97-AF65-F5344CB8AC3E}">
        <p14:creationId xmlns:p14="http://schemas.microsoft.com/office/powerpoint/2010/main" val="19842138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E2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d6f6615484493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DACEC-D649-4129-9B2F-B3D6B577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6CFEC-A0C6-4274-894E-4019C2D8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E6D1AF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E6D1AF"/>
                </a:solidFill>
                <a:latin typeface="Calibri"/>
                <a:ea typeface="Calibri"/>
                <a:cs typeface="Calibri"/>
              </a:rPr>
              <a:t>06  /  СОВРЕМЕННЫЙ ТАШКЕНТ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BBD4C-9005-4DF4-8D8E-3D7B3CEE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4048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48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8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Город</a:t>
            </a:r>
          </a:p>
          <a:p xmlns:a="http://schemas.openxmlformats.org/drawingml/2006/main">
            <a:pPr algn="l">
              <a:lnSpc>
                <a:spcPct val="97000"/>
              </a:lnSpc>
              <a:buNone/>
              <a:defRPr sz="48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8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меняется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5DBD9-A8F4-4B57-BCEB-1CD15EF5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D1A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B2D48-ABF6-4DF1-9E74-B32AB169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43325"/>
            <a:ext cx="40100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E5ECE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E5ECEA"/>
                </a:solidFill>
                <a:latin typeface="Calibri"/>
                <a:ea typeface="Calibri"/>
                <a:cs typeface="Calibri"/>
              </a:rPr>
              <a:t>Tashkent City — место, где современные здания соседствуют с прогулочными пространствами и вечерними огнями.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58E0E-CCF5-452D-BE08-D06E35CA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293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 i="0">
                <a:solidFill>
                  <a:srgbClr val="D3DEDB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3DEDB"/>
                </a:solidFill>
                <a:latin typeface="Calibri"/>
                <a:ea typeface="Calibri"/>
                <a:cs typeface="Calibri"/>
              </a:rPr>
              <a:t>Фото: Tashkent City Park / Wikimedia Commons / CC BY-SA 4.0</a:t>
            </a:r>
          </a:p>
        </p:txBody>
      </p:sp>
    </p:spTree>
    <p:extLst>
      <p:ext uri="{BB962C8B-B14F-4D97-AF65-F5344CB8AC3E}">
        <p14:creationId xmlns:p14="http://schemas.microsoft.com/office/powerpoint/2010/main" val="5368430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E2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f07dba0dc4290"/>
          <a:srcRect xmlns:a="http://schemas.openxmlformats.org/drawingml/2006/main" l="0" t="459" r="0" b="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0"/>
            <a:ext cx="5191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4C009-1807-492F-9920-C62305DF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E6D1AF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E6D1AF"/>
                </a:solidFill>
                <a:latin typeface="Calibri"/>
                <a:ea typeface="Calibri"/>
                <a:cs typeface="Calibri"/>
              </a:rPr>
              <a:t>07  /  СИМВОЛ ГОРОДА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B30CF-DB30-4674-AD38-E6CFEDA3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85875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42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42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Телебашня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A7093-249E-4712-B39A-BA2C8277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09825"/>
            <a:ext cx="54578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900" b="0" i="0">
                <a:solidFill>
                  <a:srgbClr val="E6D1AF"/>
                </a:solidFill>
                <a:latin typeface="Georgia"/>
                <a:ea typeface="Georgia"/>
                <a:cs typeface="Georgia"/>
              </a:defRPr>
            </a:pPr>
            <a:r>
              <a:rPr sz="6900" b="0" i="0">
                <a:solidFill>
                  <a:srgbClr val="E6D1AF"/>
                </a:solidFill>
                <a:latin typeface="Georgia"/>
                <a:ea typeface="Georgia"/>
                <a:cs typeface="Georgia"/>
              </a:rPr>
              <a:t>375 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BA15A-F155-40DB-A920-E941F871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8617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D1A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D118A-06D3-43A1-A381-CF18CA27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55626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75" b="0" i="0">
                <a:solidFill>
                  <a:srgbClr val="E5ECE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E5ECEA"/>
                </a:solidFill>
                <a:latin typeface="Calibri"/>
                <a:ea typeface="Calibri"/>
                <a:cs typeface="Calibri"/>
              </a:rPr>
              <a:t>С её смотровой площадки открывается вид на город. Для меня это один из самых узнаваемых силуэтов Ташкента.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11EDE-93F9-4E94-81C5-D93FDD4A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4198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 i="0">
                <a:solidFill>
                  <a:srgbClr val="CAD6D3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CAD6D3"/>
                </a:solidFill>
                <a:latin typeface="Calibri"/>
                <a:ea typeface="Calibri"/>
                <a:cs typeface="Calibri"/>
              </a:rPr>
              <a:t>Фото: Boymatova Ugiloy / Wikimedia Commons / CC BY 4.0</a:t>
            </a:r>
          </a:p>
        </p:txBody>
      </p:sp>
    </p:spTree>
    <p:extLst>
      <p:ext uri="{BB962C8B-B14F-4D97-AF65-F5344CB8AC3E}">
        <p14:creationId xmlns:p14="http://schemas.microsoft.com/office/powerpoint/2010/main" val="10722500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82EDE-FFA3-4E13-9083-905FFB15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147E89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147E89"/>
                </a:solidFill>
                <a:latin typeface="Calibri"/>
                <a:ea typeface="Calibri"/>
                <a:cs typeface="Calibri"/>
              </a:rPr>
              <a:t>08  /  ПРИРОДА И ПРОГУЛКИ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D9BF4-69BE-403D-868B-C9CC56E4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81075"/>
            <a:ext cx="9525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900" b="1" i="0">
                <a:solidFill>
                  <a:srgbClr val="22343B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2343B"/>
                </a:solidFill>
                <a:latin typeface="Georgia"/>
                <a:ea typeface="Georgia"/>
                <a:cs typeface="Georgia"/>
              </a:rPr>
              <a:t>От сквера до гор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b5cf5b69b47b5"/>
          <a:srcRect xmlns:a="http://schemas.openxmlformats.org/drawingml/2006/main" l="0" t="4714" r="0" b="4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924050"/>
            <a:ext cx="5334000" cy="321945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d6eaa646e4a85"/>
          <a:srcRect xmlns:a="http://schemas.openxmlformats.org/drawingml/2006/main" l="2903" t="0" r="29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1924050"/>
            <a:ext cx="5391150" cy="3219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375D7-ECBF-4247-94D2-9561D3FC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6203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0" i="0">
                <a:solidFill>
                  <a:srgbClr val="22343B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22343B"/>
                </a:solidFill>
                <a:latin typeface="Calibri"/>
                <a:ea typeface="Calibri"/>
                <a:cs typeface="Calibri"/>
              </a:rPr>
              <a:t>В городе — зелёные скверы. За его пределами — горы и Чарвакское водохранилище.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92C12-CA62-4883-A6BB-7D4EF9B6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 i="0">
                <a:solidFill>
                  <a:srgbClr val="5A6A6E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5A6A6E"/>
                </a:solidFill>
                <a:latin typeface="Calibri"/>
                <a:ea typeface="Calibri"/>
                <a:cs typeface="Calibri"/>
              </a:rPr>
              <a:t>Фото: Adam Harangozó / Wikimedia Commons / CC BY-SA 4.0  ·  Галиев Ярослав / Wikimedia Commons / CC BY-SA 4.0</a:t>
            </a:r>
          </a:p>
        </p:txBody>
      </p:sp>
    </p:spTree>
    <p:extLst>
      <p:ext uri="{BB962C8B-B14F-4D97-AF65-F5344CB8AC3E}">
        <p14:creationId xmlns:p14="http://schemas.microsoft.com/office/powerpoint/2010/main" val="5476689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6183af05947cb"/>
          <a:srcRect xmlns:a="http://schemas.openxmlformats.org/drawingml/2006/main" l="17240" t="0" r="172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0"/>
            <a:ext cx="59912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DA310-8AD8-4817-B9D0-200124BE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147E89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147E89"/>
                </a:solidFill>
                <a:latin typeface="Calibri"/>
                <a:ea typeface="Calibri"/>
                <a:cs typeface="Calibri"/>
              </a:rPr>
              <a:t>09  /  ПРАЗДНИКИ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9625C-67B8-4CCC-9C0B-342977E5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5238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425" b="1" i="0">
                <a:solidFill>
                  <a:srgbClr val="22343B"/>
                </a:solidFill>
                <a:latin typeface="Georgia"/>
                <a:ea typeface="Georgia"/>
                <a:cs typeface="Georgia"/>
              </a:defRPr>
            </a:pPr>
            <a:r>
              <a:rPr sz="4425" b="1" i="0">
                <a:solidFill>
                  <a:srgbClr val="22343B"/>
                </a:solidFill>
                <a:latin typeface="Georgia"/>
                <a:ea typeface="Georgia"/>
                <a:cs typeface="Georgia"/>
              </a:rPr>
              <a:t>Навруз: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425" b="1" i="0">
                <a:solidFill>
                  <a:srgbClr val="22343B"/>
                </a:solidFill>
                <a:latin typeface="Georgia"/>
                <a:ea typeface="Georgia"/>
                <a:cs typeface="Georgia"/>
              </a:defRPr>
            </a:pPr>
            <a:r>
              <a:rPr sz="4425" b="1" i="0">
                <a:solidFill>
                  <a:srgbClr val="22343B"/>
                </a:solidFill>
                <a:latin typeface="Georgia"/>
                <a:ea typeface="Georgia"/>
                <a:cs typeface="Georgia"/>
              </a:rPr>
              <a:t>встреча весны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A2086-518E-4C88-9C86-24A9A1E0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766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7E8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4DAA7-9355-4738-87A3-A5EE09B6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67125"/>
            <a:ext cx="51149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75" b="0" i="0">
                <a:solidFill>
                  <a:srgbClr val="22343B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22343B"/>
                </a:solidFill>
                <a:latin typeface="Calibri"/>
                <a:ea typeface="Calibri"/>
                <a:cs typeface="Calibri"/>
              </a:rPr>
              <a:t>21 марта город отмечает Навруз. Люди навещают близких, гуляют, готовят традиционные блюда и встречают новый сезон вместе.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6F324-B674-4EC2-ACBF-34E27632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4198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 i="0">
                <a:solidFill>
                  <a:srgbClr val="5A6A6E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5A6A6E"/>
                </a:solidFill>
                <a:latin typeface="Calibri"/>
                <a:ea typeface="Calibri"/>
                <a:cs typeface="Calibri"/>
              </a:rPr>
              <a:t>Фото: Ayqironlik / Wikimedia Commons / CC BY-SA 4.0</a:t>
            </a:r>
          </a:p>
        </p:txBody>
      </p:sp>
    </p:spTree>
    <p:extLst>
      <p:ext uri="{BB962C8B-B14F-4D97-AF65-F5344CB8AC3E}">
        <p14:creationId xmlns:p14="http://schemas.microsoft.com/office/powerpoint/2010/main" val="21123391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70e835cd344d8"/>
          <a:srcRect xmlns:a="http://schemas.openxmlformats.org/drawingml/2006/main" l="0" t="8470" r="0" b="84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F0515-E9AC-4D90-B04B-C12BEAB8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9575"/>
            <a:ext cx="4543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147E89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147E89"/>
                </a:solidFill>
                <a:latin typeface="Calibri"/>
                <a:ea typeface="Calibri"/>
                <a:cs typeface="Calibri"/>
              </a:rPr>
              <a:t>10  /  ЛЮДИ И ТРАДИЦИИ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1794A-B2A3-46CC-A3DE-A5324622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81125"/>
            <a:ext cx="4972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  <a:defRPr sz="4200" b="1" i="0">
                <a:solidFill>
                  <a:srgbClr val="22343B"/>
                </a:solidFill>
                <a:latin typeface="Georgia"/>
                <a:ea typeface="Georgia"/>
                <a:cs typeface="Georgia"/>
              </a:defRPr>
            </a:pPr>
            <a:r>
              <a:rPr sz="4200" b="1" i="0">
                <a:solidFill>
                  <a:srgbClr val="22343B"/>
                </a:solidFill>
                <a:latin typeface="Georgia"/>
                <a:ea typeface="Georgia"/>
                <a:cs typeface="Georgia"/>
              </a:rPr>
              <a:t>Махалля —</a:t>
            </a:r>
          </a:p>
          <a:p xmlns:a="http://schemas.openxmlformats.org/drawingml/2006/main">
            <a:pPr algn="l">
              <a:lnSpc>
                <a:spcPct val="99000"/>
              </a:lnSpc>
              <a:buNone/>
              <a:defRPr sz="4200" b="1" i="0">
                <a:solidFill>
                  <a:srgbClr val="22343B"/>
                </a:solidFill>
                <a:latin typeface="Georgia"/>
                <a:ea typeface="Georgia"/>
                <a:cs typeface="Georgia"/>
              </a:defRPr>
            </a:pPr>
            <a:r>
              <a:rPr sz="4200" b="1" i="0">
                <a:solidFill>
                  <a:srgbClr val="22343B"/>
                </a:solidFill>
                <a:latin typeface="Georgia"/>
                <a:ea typeface="Georgia"/>
                <a:cs typeface="Georgia"/>
              </a:rPr>
              <a:t>это соседи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AF8DD-4D6D-449A-9E5C-94E20825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766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7E8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EBD36-A97D-4296-A31F-1E463A99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48075"/>
            <a:ext cx="476250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 i="0">
                <a:solidFill>
                  <a:srgbClr val="22343B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22343B"/>
                </a:solidFill>
                <a:latin typeface="Calibri"/>
                <a:ea typeface="Calibri"/>
                <a:cs typeface="Calibri"/>
              </a:rPr>
              <a:t>Ташкент запоминается не только зданиями. В махалле важны знакомство, взаимопомощь и обычай принимать гостей за общим столом.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3FCD7-FD3B-4C74-83FD-E24F55CD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81650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1">
                <a:solidFill>
                  <a:srgbClr val="5A6A6E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A6A6E"/>
                </a:solidFill>
                <a:latin typeface="Calibri"/>
                <a:ea typeface="Calibri"/>
                <a:cs typeface="Calibri"/>
              </a:rPr>
              <a:t>На фото: традиционный дворик в парке «Навруз».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1D591-2B6A-4C8B-A9B4-ADD8420A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4198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 i="0">
                <a:solidFill>
                  <a:srgbClr val="5A6A6E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5A6A6E"/>
                </a:solidFill>
                <a:latin typeface="Calibri"/>
                <a:ea typeface="Calibri"/>
                <a:cs typeface="Calibri"/>
              </a:rPr>
              <a:t>Фото: Panpanchik / Wikimedia Commons / CC BY-SA 4.0</a:t>
            </a:r>
          </a:p>
        </p:txBody>
      </p:sp>
    </p:spTree>
    <p:extLst>
      <p:ext uri="{BB962C8B-B14F-4D97-AF65-F5344CB8AC3E}">
        <p14:creationId xmlns:p14="http://schemas.microsoft.com/office/powerpoint/2010/main" val="16017528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deb4eb5ab4beb"/>
          <a:srcRect xmlns:a="http://schemas.openxmlformats.org/drawingml/2006/main" l="18716" t="0" r="187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4389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7BC6F-5FE7-4C07-BF25-A176771A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147E89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147E89"/>
                </a:solidFill>
                <a:latin typeface="Calibri"/>
                <a:ea typeface="Calibri"/>
                <a:cs typeface="Calibri"/>
              </a:rPr>
              <a:t>11  /  ВКУС ТАШКЕНТА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91C72-B83C-411F-98FF-7E4A3ABD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152525"/>
            <a:ext cx="4972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9000"/>
              </a:lnSpc>
              <a:buNone/>
              <a:defRPr sz="3675" b="1" i="0">
                <a:solidFill>
                  <a:srgbClr val="22343B"/>
                </a:solidFill>
                <a:latin typeface="Georgia"/>
                <a:ea typeface="Georgia"/>
                <a:cs typeface="Georgia"/>
              </a:defRPr>
            </a:pPr>
            <a:r>
              <a:rPr sz="3675" b="1" i="0">
                <a:solidFill>
                  <a:srgbClr val="22343B"/>
                </a:solidFill>
                <a:latin typeface="Georgia"/>
                <a:ea typeface="Georgia"/>
                <a:cs typeface="Georgia"/>
              </a:rPr>
              <a:t>Блюда, которые</a:t>
            </a:r>
          </a:p>
          <a:p xmlns:a="http://schemas.openxmlformats.org/drawingml/2006/main">
            <a:pPr algn="l">
              <a:lnSpc>
                <a:spcPct val="99000"/>
              </a:lnSpc>
              <a:buNone/>
              <a:defRPr sz="3675" b="1" i="0">
                <a:solidFill>
                  <a:srgbClr val="22343B"/>
                </a:solidFill>
                <a:latin typeface="Georgia"/>
                <a:ea typeface="Georgia"/>
                <a:cs typeface="Georgia"/>
              </a:defRPr>
            </a:pPr>
            <a:r>
              <a:rPr sz="3675" b="1" i="0">
                <a:solidFill>
                  <a:srgbClr val="22343B"/>
                </a:solidFill>
                <a:latin typeface="Georgia"/>
                <a:ea typeface="Georgia"/>
                <a:cs typeface="Georgia"/>
              </a:rPr>
              <a:t>собирают людей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5378F-5BB5-476F-8A86-75982F3C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7E8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BDE9B-1599-40FE-BC32-6E74E6C2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57550"/>
            <a:ext cx="433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147E89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147E89"/>
                </a:solidFill>
                <a:latin typeface="Calibri"/>
                <a:ea typeface="Calibri"/>
                <a:cs typeface="Calibri"/>
              </a:rPr>
              <a:t>Плов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2340D-E037-4BDA-9C76-A36FA234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38550"/>
            <a:ext cx="4286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 i="0">
                <a:solidFill>
                  <a:srgbClr val="22343B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22343B"/>
                </a:solidFill>
                <a:latin typeface="Calibri"/>
                <a:ea typeface="Calibri"/>
                <a:cs typeface="Calibri"/>
              </a:rPr>
              <a:t>Большой казан и общая трапеза.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7F133-BF6E-48CD-9A02-F200E6AE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95775"/>
            <a:ext cx="433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147E89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147E89"/>
                </a:solidFill>
                <a:latin typeface="Calibri"/>
                <a:ea typeface="Calibri"/>
                <a:cs typeface="Calibri"/>
              </a:rPr>
              <a:t>Нарын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CDA4A-B1F8-44F6-BB43-41C94990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76775"/>
            <a:ext cx="4286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 i="0">
                <a:solidFill>
                  <a:srgbClr val="22343B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22343B"/>
                </a:solidFill>
                <a:latin typeface="Calibri"/>
                <a:ea typeface="Calibri"/>
                <a:cs typeface="Calibri"/>
              </a:rPr>
              <a:t>Тонко нарезанная лапша с мясом.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B4C0A-F2C8-44DE-B987-3D141B8D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433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147E89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147E89"/>
                </a:solidFill>
                <a:latin typeface="Calibri"/>
                <a:ea typeface="Calibri"/>
                <a:cs typeface="Calibri"/>
              </a:rPr>
              <a:t>Самса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58113-C5E9-482B-A8EC-46ED23D0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95950"/>
            <a:ext cx="4286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 i="0">
                <a:solidFill>
                  <a:srgbClr val="22343B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22343B"/>
                </a:solidFill>
                <a:latin typeface="Calibri"/>
                <a:ea typeface="Calibri"/>
                <a:cs typeface="Calibri"/>
              </a:rPr>
              <a:t>Горячая выпечка из тандыра.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265D1-EA63-41E6-A609-93BCCFD4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198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 i="0">
                <a:solidFill>
                  <a:srgbClr val="5A6A6E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5A6A6E"/>
                </a:solidFill>
                <a:latin typeface="Calibri"/>
                <a:ea typeface="Calibri"/>
                <a:cs typeface="Calibri"/>
              </a:rPr>
              <a:t>Фото: Ekrem Canli / Wikimedia Commons / CC BY-SA 3.0</a:t>
            </a:r>
          </a:p>
        </p:txBody>
      </p:sp>
    </p:spTree>
    <p:extLst>
      <p:ext uri="{BB962C8B-B14F-4D97-AF65-F5344CB8AC3E}">
        <p14:creationId xmlns:p14="http://schemas.microsoft.com/office/powerpoint/2010/main" val="18043820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4CFF1-BABE-4B66-A056-6C3EB129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E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3E595-819B-45BC-9A47-9DA2973A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147E89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147E89"/>
                </a:solidFill>
                <a:latin typeface="Calibri"/>
                <a:ea typeface="Calibri"/>
                <a:cs typeface="Calibri"/>
              </a:rPr>
              <a:t>12  /  ЗАКЛЮЧЕНИЕ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0FEEE-71D5-4697-BA88-10157427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9525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 i="0">
                <a:solidFill>
                  <a:srgbClr val="22343B"/>
                </a:solidFill>
                <a:latin typeface="Georgia"/>
                <a:ea typeface="Georgia"/>
                <a:cs typeface="Georgia"/>
              </a:defRPr>
            </a:pPr>
            <a:r>
              <a:rPr sz="4950" b="1" i="0">
                <a:solidFill>
                  <a:srgbClr val="22343B"/>
                </a:solidFill>
                <a:latin typeface="Georgia"/>
                <a:ea typeface="Georgia"/>
                <a:cs typeface="Georgia"/>
              </a:rPr>
              <a:t>Почему я люблю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950" b="1" i="0">
                <a:solidFill>
                  <a:srgbClr val="22343B"/>
                </a:solidFill>
                <a:latin typeface="Georgia"/>
                <a:ea typeface="Georgia"/>
                <a:cs typeface="Georgia"/>
              </a:defRPr>
            </a:pPr>
            <a:r>
              <a:rPr sz="4950" b="1" i="0">
                <a:solidFill>
                  <a:srgbClr val="22343B"/>
                </a:solidFill>
                <a:latin typeface="Georgia"/>
                <a:ea typeface="Georgia"/>
                <a:cs typeface="Georgia"/>
              </a:rPr>
              <a:t>Ташкент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6CE93-ABC8-43B6-995C-C4EB23DA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7E8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E0710-DE01-4806-A08F-8C2AF15E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629025"/>
            <a:ext cx="10334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400" b="0" i="1">
                <a:solidFill>
                  <a:srgbClr val="22343B"/>
                </a:solidFill>
                <a:latin typeface="Georgia"/>
                <a:ea typeface="Georgia"/>
                <a:cs typeface="Georgia"/>
              </a:defRPr>
            </a:pPr>
            <a:r>
              <a:rPr sz="2400" b="0" i="1">
                <a:solidFill>
                  <a:srgbClr val="22343B"/>
                </a:solidFill>
                <a:latin typeface="Georgia"/>
                <a:ea typeface="Georgia"/>
                <a:cs typeface="Georgia"/>
              </a:rPr>
              <a:t>Мне нравится, как здесь рядом существуют старые базары, тихие дворы, метро и новые улицы. Для меня это и есть родной город.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A80DD-E46C-4F3C-B6A2-EB8F2AD0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9626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47E89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147E89"/>
                </a:solidFill>
                <a:latin typeface="Calibri"/>
                <a:ea typeface="Calibri"/>
                <a:cs typeface="Calibri"/>
              </a:rPr>
              <a:t>Тошназаров Темурбек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B0E1B-3149-49E4-B720-4024E086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531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125" b="0" i="0">
                <a:solidFill>
                  <a:srgbClr val="5A6A6E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5A6A6E"/>
                </a:solidFill>
                <a:latin typeface="Calibri"/>
                <a:ea typeface="Calibri"/>
                <a:cs typeface="Calibri"/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15718827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E2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7a15619c34b54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91D91-5175-4220-927F-579A21A1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76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A81AD-61C8-4391-BF27-54A394F4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44672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5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5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Спасибо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5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5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за внимание!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2549D-A29C-4BDB-9169-21198DBF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D1A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3059D-C866-4D14-8E5E-32C8870A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4162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0" i="0">
                <a:solidFill>
                  <a:srgbClr val="E5ECEA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E5ECEA"/>
                </a:solidFill>
                <a:latin typeface="Calibri"/>
                <a:ea typeface="Calibri"/>
                <a:cs typeface="Calibri"/>
              </a:rPr>
              <a:t>Буду рад ответить на вопросы.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C2A2D-6263-4A9B-99FB-5FCEF905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34025"/>
            <a:ext cx="417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Тошназаров Темурбек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0E2B6-8CEF-4567-9D20-98903877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 i="0">
                <a:solidFill>
                  <a:srgbClr val="D4E0DC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4E0DC"/>
                </a:solidFill>
                <a:latin typeface="Calibri"/>
                <a:ea typeface="Calibri"/>
                <a:cs typeface="Calibri"/>
              </a:rPr>
              <a:t>Фото: Drksll / Wikimedia Commons / CC BY-SA 4.0</a:t>
            </a:r>
          </a:p>
        </p:txBody>
      </p:sp>
    </p:spTree>
    <p:extLst>
      <p:ext uri="{BB962C8B-B14F-4D97-AF65-F5344CB8AC3E}">
        <p14:creationId xmlns:p14="http://schemas.microsoft.com/office/powerpoint/2010/main" val="1261326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2026-10-07T04:57:11.6010000Z</dcterms:created>
  <dcterms:modified xsi:type="dcterms:W3CDTF">2026-10-07T04:57:11.6010000Z</dcterms:modified>
</coreProperties>
</file>